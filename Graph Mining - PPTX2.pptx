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4" r:id="rId2"/>
    <p:sldId id="278" r:id="rId3"/>
    <p:sldId id="290" r:id="rId4"/>
    <p:sldId id="281" r:id="rId5"/>
    <p:sldId id="288" r:id="rId6"/>
    <p:sldId id="291" r:id="rId7"/>
    <p:sldId id="298" r:id="rId8"/>
    <p:sldId id="299" r:id="rId9"/>
    <p:sldId id="300" r:id="rId10"/>
    <p:sldId id="289" r:id="rId11"/>
    <p:sldId id="292" r:id="rId12"/>
    <p:sldId id="293" r:id="rId13"/>
    <p:sldId id="295" r:id="rId14"/>
    <p:sldId id="296" r:id="rId15"/>
    <p:sldId id="301" r:id="rId16"/>
    <p:sldId id="29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22295-06A1-4507-BAFF-D06ED0246AE5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EB810-F110-4DBC-AAC6-E46061423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52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862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C5FCACE-FDAC-9B8D-93A2-39A714F0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BC707C1E-3444-4E0A-5A7C-F3C0CDE1F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617E2578-603B-6A2D-6E93-26D30D97B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21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E6FB13-FA9C-E254-35D5-B69A76ADD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FFD3DA19-31B7-B166-7B8F-D7A0F9376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9BB0FFD4-4069-96CA-776A-2FD4828B2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750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5D050A-C9C7-D3BB-CAE1-4AF09B88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505641E8-4212-36BF-E1C5-84CEC9763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86DD697C-232A-2B56-31C9-063F59961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68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B48144-C19E-75AA-8F4C-817DF678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0B41EB8C-6A49-A404-D437-84799716D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7FC45A3C-DCB2-C03A-C379-969ABE62F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041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E1941BE-5AE9-1D72-3500-95C651DB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568FC8C9-5E3C-EE48-870A-4966F07B6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6D613129-9152-1CF5-0F56-ED12AB547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395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2DC5524-CFD6-748A-4E06-BA21D7DF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5B3B01E0-8044-F053-E054-C437A3F58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2AB53043-77EE-84D2-54E3-D89004D7F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980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025B9A2-8C67-DE71-8664-9DF245A8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E7AEC2C6-AA15-55B8-32BC-C0ECF78E4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54B5D1FA-4AFD-8D9C-81A6-10D0E1807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608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C97BEDF-686C-6E00-7433-649E95DC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FAA99844-EADB-F385-BF01-4EF00A0B8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DA25C0BB-47EA-45E2-77A9-1171BB1AF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2117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8E72465-636B-2D33-F767-12D6F204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DD7A6C3A-C0EB-C908-9539-D64D50732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1CB67D64-5E8F-8799-BA21-C34F23B24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797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1680F21-F263-C473-2518-9A324EB8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EA046BEB-EAB6-A834-5B54-60988936B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7764D4E3-A7B3-1F42-6E37-F5837A7CD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978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61EDB96-3F63-4F22-D72B-18075D9C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34AD0EF9-2E2C-0A65-385A-CC13A5540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98AAF131-C1E3-5AA4-8DE7-083DE7A04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9591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0BD2411-DF33-E9DA-165C-68BE1E00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760684E5-CF18-CF82-C66E-BA674D2A3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89ECBBFD-E9DF-1742-22C2-6BAF6E452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04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DEDDA82-E45D-A04A-868C-F240EFA7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5C6D4CBF-8976-9B02-A38A-AC2D29F84B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F889579B-103B-77DA-18E1-F50624097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9771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A4ECD65-82AA-0F21-FBD9-C95FBCF1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>
            <a:extLst>
              <a:ext uri="{FF2B5EF4-FFF2-40B4-BE49-F238E27FC236}">
                <a16:creationId xmlns:a16="http://schemas.microsoft.com/office/drawing/2014/main" id="{C245AADD-5FB8-0274-D317-0847DD03E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:notes">
            <a:extLst>
              <a:ext uri="{FF2B5EF4-FFF2-40B4-BE49-F238E27FC236}">
                <a16:creationId xmlns:a16="http://schemas.microsoft.com/office/drawing/2014/main" id="{758036CB-51D0-62F3-CDB5-813FE7F90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15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587C-F8F1-3D69-1A26-6033D9F0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44782-B55A-B57F-1C56-7BA064ED2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E25B-31F4-63E6-2DC4-2DD72313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81E42-29C8-0BD4-51E8-33ADE210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142D3-873C-4BE9-3340-440D706A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2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C742-83C9-C562-C9E7-3CDF1949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120C-0125-D95E-A638-5560619C0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9EF1-AE7C-59BC-5054-4914AB60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B6C7-F95D-A06B-48B3-4A48DC80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F41C-CF5F-9D61-B173-C63D3A14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8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DC4D-4D72-E74F-1DE4-FA9185B3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07090-6DDA-592A-6148-421898F9E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CC32C-78B9-9BDA-A777-B777EEFD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3BA79-75ED-95B7-40DE-C3086D9C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895A-9B5E-25B0-0079-2D96DB9B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72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BE84-16AD-C3DB-D43C-84373668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21202-6EB4-E3D5-EC49-BEAA8C761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29BE1-AC72-A0B0-1292-52F4BA5DA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C35EA-4C5B-1113-2489-2C3B1D27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45F1F-2786-B8A6-7247-B95D0193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45D3B-59C7-EBAE-A414-32B3928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63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087D-8F4A-489B-2FA2-2439C18F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C75D1-0583-A132-457F-C43B43F4A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DE640-374D-C7B9-70F0-B38424C87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B0AA2-32AC-D9C1-7C68-F6004C25B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2EDB5-0136-8D5A-51B2-9444E617B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671280-879D-44B6-015D-4AF033529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FA3DF-2A5F-DCF2-A1FF-DFFCA0193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C4978-1347-D532-51A7-D954A62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1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117C-C608-A647-624B-08A2DF51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5795D-CD1E-72F8-C0AB-4A27FE1C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43F52-405B-D1A5-3C1B-6BD1A450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832A3-D6C6-887C-8974-A5DA2E3E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7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9B225-FF70-4406-A540-FE6FB008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EEFFF-3895-DA99-873F-4F97CC4B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E8357-DB21-F2E8-53B8-6261202B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23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0095-2383-3AA6-F87E-1F761DB5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F957E-5DB5-BEA3-197C-74667BEA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E9ADF-8B03-7E5B-6BFC-501EBFCB1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FBABC-DD36-6BCD-6934-423704112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7E409-D1AD-D91E-FA51-A6A3213C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5C5A2-BBC0-43CB-F727-5924BF9B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3752-60EF-0231-9767-23CD45AF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6CF2D-20AD-6F4D-FA1A-63F7F3BA3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69185-7EC4-91D6-45C7-19D44C1BC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4AC41-994E-323C-B65D-6020BF02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9B83F-35C8-4D76-FBB3-4B672E7B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B6DE0-CBC7-4882-B10B-D54D16DC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13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B4AE-AC4B-B109-0DB1-259516A4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18AF6-CB1F-4642-E7EA-BB0B9D480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1EA5F-21C0-53EC-54D3-30500FE8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92532-18B2-C8FE-22CF-38CC76C4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28C0F-6A07-C009-DADD-E3862614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42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BB603-219F-4506-51D8-BFC2EE6C3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CFF88-D175-DB11-3DC0-B81688AEC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4676-B6F6-9305-35EF-9C2DD0EF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BAEB-A91B-3076-3B2C-B78D34AC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4618-4268-91F3-E191-1C1A7C03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081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99" name="Google Shape;99;p16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" name="Google Shape;102;p1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8839201" y="-1"/>
            <a:ext cx="2924257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2844800" y="6553201"/>
            <a:ext cx="9347201" cy="45719"/>
            <a:chOff x="1905000" y="6553200"/>
            <a:chExt cx="7010400" cy="45719"/>
          </a:xfrm>
        </p:grpSpPr>
        <p:sp>
          <p:nvSpPr>
            <p:cNvPr id="104" name="Google Shape;104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0" y="1295401"/>
            <a:ext cx="9347201" cy="45719"/>
            <a:chOff x="1905000" y="6553200"/>
            <a:chExt cx="7010400" cy="45719"/>
          </a:xfrm>
        </p:grpSpPr>
        <p:sp>
          <p:nvSpPr>
            <p:cNvPr id="108" name="Google Shape;108;p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0" y="6554056"/>
            <a:ext cx="12192000" cy="30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1815" y="6554055"/>
            <a:ext cx="121801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858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6B27E-C5BC-F16E-FEB8-45E324D9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95550-94D6-444E-CF17-18D941B47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2814-20BF-F11C-A1D2-056FACEBF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D82A8-45F5-4B55-8F2F-6D30D5584DA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4CB7-51CA-0A8A-376D-4965E8D07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F30E-EA8D-108C-FF60-11DB5080E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01494-ED35-47EE-9EE4-0A178E222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67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9AD24-F32F-F60C-D106-19C0A1327600}"/>
              </a:ext>
            </a:extLst>
          </p:cNvPr>
          <p:cNvSpPr/>
          <p:nvPr/>
        </p:nvSpPr>
        <p:spPr>
          <a:xfrm>
            <a:off x="308648" y="1983924"/>
            <a:ext cx="11574707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Proposed Methodology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Spatio-Temporal-Causal-Reasoning-with-Uncertainty-Awareness-for-Temporal-Knowledge-Graph-Completion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(STCR – TKGC)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F5F7BB-1643-AB9B-F449-1A550C43924D}"/>
              </a:ext>
            </a:extLst>
          </p:cNvPr>
          <p:cNvSpPr/>
          <p:nvPr/>
        </p:nvSpPr>
        <p:spPr>
          <a:xfrm>
            <a:off x="7767623" y="4140527"/>
            <a:ext cx="3799437" cy="20621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Mining – C2  </a:t>
            </a:r>
          </a:p>
          <a:p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Tx/>
              <a:buChar char="-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Alankrit Sinha </a:t>
            </a:r>
          </a:p>
          <a:p>
            <a:pPr marL="457200" indent="-457200">
              <a:buFontTx/>
              <a:buChar char="-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Ankit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Kumar Singh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330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CDFD9AC-D305-686B-A74A-850FD43F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7C269590-C023-9855-01B1-862B92818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Introduction To TKG: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8F5CA-B343-06A5-D32D-A5EAACB2B20B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5AF8276-BB63-140A-51DC-0E1CBC745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45" y="1475020"/>
            <a:ext cx="105475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1" algn="just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742950" lvl="1" indent="-285750" algn="just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42950" indent="-285750" algn="just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457200" algn="just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742950" lvl="1" indent="-285750" algn="just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742950" lvl="1" indent="-285750" algn="just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F0302020204030204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18705-CCFB-5362-2C81-BFE213B1F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08" y="1836394"/>
            <a:ext cx="1126964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3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8A74C82-8BAA-E1AF-D167-9C9FBE39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ABAAA69F-B0D3-F606-ABF7-E400A7D77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lang="en-US" dirty="0">
              <a:latin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C1104-0371-51B7-CBBD-65FD31D151E2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D5E2D1A-BDF9-4901-F462-3AE5A649A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57" y="516371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CD60E-ED02-96F6-8500-F2FC54421D0D}"/>
              </a:ext>
            </a:extLst>
          </p:cNvPr>
          <p:cNvSpPr txBox="1"/>
          <p:nvPr/>
        </p:nvSpPr>
        <p:spPr>
          <a:xfrm>
            <a:off x="597378" y="588396"/>
            <a:ext cx="763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5088"/>
                </a:solidFill>
                <a:latin typeface="Merriweather"/>
                <a:sym typeface="Merriweather"/>
              </a:rPr>
              <a:t>Feedback From C1 – Bottleneck of Transformers vs SSM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17F4DA-62FF-E4A7-7CBC-B784437BF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99" y="1796607"/>
            <a:ext cx="4291269" cy="84174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E508215F-E8A2-9850-9D4B-2EA95AF9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08" y="2506842"/>
            <a:ext cx="10878299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Complexity: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Since Q and K are matrices of size L times d, the product QK^T results in an L X L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"Memory Wall":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a sequence of 365 days, the model must store and compute 365^2 = 133,225 attention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scores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 head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 every layer.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438091-95AA-C9CA-4D71-309B1D168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93" y="4308459"/>
            <a:ext cx="2076740" cy="3810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38E3AA9-75C8-3852-F30A-128B09E11597}"/>
              </a:ext>
            </a:extLst>
          </p:cNvPr>
          <p:cNvSpPr/>
          <p:nvPr/>
        </p:nvSpPr>
        <p:spPr>
          <a:xfrm>
            <a:off x="448408" y="3384005"/>
            <a:ext cx="40227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Paper : https://arxiv.org/abs/1706.03762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5621C23-D98C-C91B-E248-C842F9AC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08" y="4901004"/>
            <a:ext cx="9682651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Complexity: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O(L </a:t>
            </a:r>
            <a:r>
              <a:rPr lang="en-US" altLang="en-US" dirty="0">
                <a:latin typeface="Google Sans Text"/>
              </a:rPr>
              <a:t>. 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The computation grows linearly with the number of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Efficiency: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model only needs to store the current state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h_t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(the "latent political climate"),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regardless of whether it is on Day 10 or Day 310.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60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97EC738-A051-EAD4-5198-58B63CF5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0FE98508-13BD-1983-E369-D8E6A9166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– ICEWS14 </a:t>
            </a:r>
            <a:r>
              <a:rPr lang="en-IN" dirty="0">
                <a:latin typeface="Poppins"/>
                <a:cs typeface="Times New Roman"/>
              </a:rPr>
              <a:t> </a:t>
            </a:r>
            <a:endParaRPr lang="en-US" dirty="0">
              <a:latin typeface="Poppin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B474-0934-3ECB-852D-9A32337F59AF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23B110-DAED-321B-A19E-F81D257BC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639" y="3683649"/>
            <a:ext cx="9298039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D67727-D6FE-C439-30A9-1146E9F6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56" y="1818780"/>
            <a:ext cx="9886274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Temporal Knowledge Graph (TKG) dataset containing political events from the year 2014.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Facts are represented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quadruples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(Subject, Relation, Object, Timestamp).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(Barack Obama,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Make a visit 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China, 2014-11-10).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Granularity: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dataset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daily resolution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(24-hour intervals), covering 365 discrete time steps.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18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866C09C-5533-DC75-324F-A4F5E85A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FAB76E38-02D1-992B-BCB4-DC9345E86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lang="en-US" dirty="0">
              <a:latin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C78C3-D5A0-0C38-EE43-8EC87749DFBC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49859-5658-0093-F6E8-5EF7A68FC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45" y="1870821"/>
            <a:ext cx="5911719" cy="22203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7F88598-3443-25B6-4E94-B776B94C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57" y="4886712"/>
            <a:ext cx="62343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~7,128 (Countries, Leaders, Organizations,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~230 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Consult, Accuse, Appeal, Fight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Facts: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~90,000+ unique events.</a:t>
            </a:r>
          </a:p>
        </p:txBody>
      </p:sp>
    </p:spTree>
    <p:extLst>
      <p:ext uri="{BB962C8B-B14F-4D97-AF65-F5344CB8AC3E}">
        <p14:creationId xmlns:p14="http://schemas.microsoft.com/office/powerpoint/2010/main" val="2726783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367B8D2-AF9D-C897-7BDE-3FD3D2F1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00BACA-72F1-5FFB-23E7-0A6039BC7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ARCHITECTURE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0CAD5-90D4-0BAB-7717-D18773E6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168079"/>
            <a:ext cx="11023600" cy="332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45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8941D44-369E-6200-AA49-EA49DDBC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74E6A-48EC-1234-2A73-06268EA0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274B3-EB62-D0BF-50E8-EE3280FE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679900"/>
            <a:ext cx="11128076" cy="442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8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0D82403-5AFD-7069-E2EA-776E4858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B3BF8E-1759-6B9C-FCC0-0F81DED06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ARCHITECTURE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14B4F-4B6E-5A86-D4E9-F53A1E59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47" y="1760717"/>
            <a:ext cx="11464506" cy="42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8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7FF0C1C-791D-7522-BBFF-436AA465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24829F-8FE7-BD9B-27CB-300A8B082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REDESIGNED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5CBCD-A7E7-8EC5-C092-4D1F38EF4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094986"/>
            <a:ext cx="10974332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6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91E5CDD-5B2E-25AD-B305-B605726A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55769778-57CE-BCD9-DBEB-82EB5FAAD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Spatial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C4FFA-B1AA-2701-1EDD-8367A27D3ECB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5EA5D-12E7-7552-3065-ABE0FCA58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76" y="1861960"/>
            <a:ext cx="11269648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B7BC009-6D3B-30FA-080B-5BD8B2C8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DC53C6B9-1178-E452-D506-C596B87DE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Temporal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80A15-7F47-0D91-CE3C-512F2416D6F5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73E65-A88D-D694-D3C9-21F45CD88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2" y="1821022"/>
            <a:ext cx="11041016" cy="1991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9AA62-DEB7-5235-136D-C2B3EBC4A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2" y="3812025"/>
            <a:ext cx="11050542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1092542-E71D-2500-651B-1A31389E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A2CB47CC-A29E-4530-992C-945EDEEE2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Temporal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204A-BD36-7484-7C53-0D097C748AB1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0FB4C-03E2-401C-5038-A957B42A1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" y="2016449"/>
            <a:ext cx="11231542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3CBF6DF-FCBC-2618-B5D5-3E2CBF0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53283F86-22B4-33D1-4C3A-FAE721ADD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Causal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555B6-F899-5866-6B99-A3C7DD8742C1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9A45E-424A-ADD9-F48C-8EB20B441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97" y="2309697"/>
            <a:ext cx="1114580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7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926230E-679B-8CDD-A37A-7963843F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D3AE2506-F68B-9B0C-67D9-1FF427975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Causal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C9484-A7B0-FD34-12E7-B0C80CE66B1F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E29691-C69B-5485-70CC-62A3E80A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86" y="1605189"/>
            <a:ext cx="11164858" cy="3181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B8FD1-253F-F42F-0996-ED61B21E1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54" y="4692192"/>
            <a:ext cx="1126012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0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E93144-E1AB-4E60-EEAA-9520AC32C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5441"/>
            <a:ext cx="12192000" cy="367284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0F941F-55BF-2E11-9462-9B6BE779B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48318"/>
              </p:ext>
            </p:extLst>
          </p:nvPr>
        </p:nvGraphicFramePr>
        <p:xfrm>
          <a:off x="513751" y="1777042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757854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030614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94631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72232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61202088"/>
                    </a:ext>
                  </a:extLst>
                </a:gridCol>
              </a:tblGrid>
              <a:tr h="134716">
                <a:tc>
                  <a:txBody>
                    <a:bodyPr/>
                    <a:lstStyle/>
                    <a:p>
                      <a:r>
                        <a:rPr lang="en-US" dirty="0"/>
                        <a:t>OUR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MRR 18.3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H@1 9.83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H@3 18.8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H@10 26.21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668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8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CDC7C7B-5D15-A82F-19CD-DF06C7CE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1121401F-2B43-0AA6-317F-631D72B70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845" y="201562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>
                <a:latin typeface="Poppins"/>
              </a:rPr>
              <a:t>C3 - Plans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0679E-3A57-FD4E-FAF0-D4582752C26F}"/>
              </a:ext>
            </a:extLst>
          </p:cNvPr>
          <p:cNvSpPr txBox="1"/>
          <p:nvPr/>
        </p:nvSpPr>
        <p:spPr>
          <a:xfrm>
            <a:off x="4084320" y="683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FB45D-0F82-3D38-76AC-BB744B11E7AF}"/>
              </a:ext>
            </a:extLst>
          </p:cNvPr>
          <p:cNvSpPr txBox="1"/>
          <p:nvPr/>
        </p:nvSpPr>
        <p:spPr>
          <a:xfrm>
            <a:off x="769907" y="1820021"/>
            <a:ext cx="83050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Full Application of Mamba Block</a:t>
            </a:r>
          </a:p>
          <a:p>
            <a:endParaRPr lang="en-US" dirty="0"/>
          </a:p>
          <a:p>
            <a:r>
              <a:rPr lang="en-US" dirty="0"/>
              <a:t>-Full </a:t>
            </a:r>
            <a:r>
              <a:rPr lang="en-US" dirty="0" err="1"/>
              <a:t>DiffuTKG</a:t>
            </a:r>
            <a:r>
              <a:rPr lang="en-US" dirty="0"/>
              <a:t> integration as the final prediction layer. </a:t>
            </a:r>
          </a:p>
          <a:p>
            <a:endParaRPr lang="en-US" dirty="0"/>
          </a:p>
          <a:p>
            <a:r>
              <a:rPr lang="en-US" dirty="0"/>
              <a:t>-Graduate from a deterministic oracle to a </a:t>
            </a:r>
            <a:r>
              <a:rPr lang="en-US" dirty="0" err="1"/>
              <a:t>fuly</a:t>
            </a:r>
            <a:r>
              <a:rPr lang="en-US" dirty="0"/>
              <a:t> uncertainty-aware probabilistic forecasting engine.</a:t>
            </a:r>
          </a:p>
          <a:p>
            <a:endParaRPr lang="en-US" dirty="0"/>
          </a:p>
          <a:p>
            <a:r>
              <a:rPr lang="en-US" dirty="0"/>
              <a:t>-LLM for semantic initialization to solve cold start problem.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007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30F69-CE09-598C-28E2-6EFC39EA3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9600" y="1747520"/>
            <a:ext cx="8432800" cy="3362960"/>
          </a:xfrm>
        </p:spPr>
        <p:txBody>
          <a:bodyPr/>
          <a:lstStyle/>
          <a:p>
            <a:pPr algn="ctr"/>
            <a:r>
              <a:rPr lang="en-US" sz="9000" dirty="0"/>
              <a:t>Thank </a:t>
            </a:r>
          </a:p>
          <a:p>
            <a:pPr algn="ctr"/>
            <a:r>
              <a:rPr lang="en-US" sz="9000" dirty="0"/>
              <a:t>You </a:t>
            </a:r>
            <a:endParaRPr lang="en-IN" sz="9000" dirty="0"/>
          </a:p>
        </p:txBody>
      </p:sp>
    </p:spTree>
    <p:extLst>
      <p:ext uri="{BB962C8B-B14F-4D97-AF65-F5344CB8AC3E}">
        <p14:creationId xmlns:p14="http://schemas.microsoft.com/office/powerpoint/2010/main" val="234731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10737</TotalTime>
  <Words>340</Words>
  <Application>Microsoft Office PowerPoint</Application>
  <PresentationFormat>Widescreen</PresentationFormat>
  <Paragraphs>64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DM Sans</vt:lpstr>
      <vt:lpstr>Google Sans Text</vt:lpstr>
      <vt:lpstr>Merriweather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Vandana Luhana</dc:creator>
  <cp:lastModifiedBy>Alankrit Sinha</cp:lastModifiedBy>
  <cp:revision>27</cp:revision>
  <dcterms:created xsi:type="dcterms:W3CDTF">2023-11-21T15:32:08Z</dcterms:created>
  <dcterms:modified xsi:type="dcterms:W3CDTF">2026-04-01T07:28:22Z</dcterms:modified>
</cp:coreProperties>
</file>